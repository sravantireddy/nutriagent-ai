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83" r:id="rId2"/>
    <p:sldId id="257" r:id="rId3"/>
    <p:sldId id="282" r:id="rId4"/>
    <p:sldId id="285" r:id="rId5"/>
    <p:sldId id="278" r:id="rId6"/>
    <p:sldId id="281" r:id="rId7"/>
    <p:sldId id="279" r:id="rId8"/>
    <p:sldId id="291" r:id="rId9"/>
    <p:sldId id="262" r:id="rId10"/>
    <p:sldId id="264" r:id="rId11"/>
    <p:sldId id="277" r:id="rId12"/>
    <p:sldId id="290" r:id="rId13"/>
    <p:sldId id="292" r:id="rId14"/>
    <p:sldId id="293" r:id="rId15"/>
    <p:sldId id="286" r:id="rId16"/>
    <p:sldId id="287" r:id="rId17"/>
    <p:sldId id="280" r:id="rId18"/>
    <p:sldId id="288" r:id="rId19"/>
    <p:sldId id="289" r:id="rId20"/>
    <p:sldId id="276"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IBM Bob”</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4222528509"/>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dirty="0"/>
                        <a:t>MANDA SRAVANTI</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sravanti9475@gmail.com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8978396676</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000" b="1" dirty="0"/>
              <a:t>Health care </a:t>
            </a:r>
            <a:r>
              <a:rPr lang="en-US" sz="2000" b="1" dirty="0">
                <a:sym typeface="Wingdings" panose="05000000000000000000" pitchFamily="2" charset="2"/>
              </a:rPr>
              <a:t> Nutrition &amp; Dietetics</a:t>
            </a:r>
            <a:endParaRPr lang="en-IN" sz="20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102321" y="604844"/>
            <a:ext cx="9581177" cy="461665"/>
          </a:xfrm>
          <a:prstGeom prst="rect">
            <a:avLst/>
          </a:prstGeom>
          <a:noFill/>
        </p:spPr>
        <p:txBody>
          <a:bodyPr wrap="square" rtlCol="0">
            <a:spAutoFit/>
          </a:bodyPr>
          <a:lstStyle/>
          <a:p>
            <a:r>
              <a:rPr lang="en-US" sz="2400" b="1" dirty="0"/>
              <a:t>Project Tile – </a:t>
            </a:r>
            <a:r>
              <a:rPr lang="en-IN" sz="2000" b="1" dirty="0" err="1"/>
              <a:t>NutriAgent</a:t>
            </a:r>
            <a:r>
              <a:rPr lang="en-IN" sz="2000" b="1" dirty="0"/>
              <a:t> AI — IBM Granite-Powered Nutrition Assistant</a:t>
            </a:r>
            <a:endParaRPr lang="en-IN" sz="2000" dirty="0"/>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rgbClr val="FF0000"/>
                </a:solidFill>
              </a:rPr>
              <a:t>Recommended font style and size:</a:t>
            </a:r>
            <a:br>
              <a:rPr lang="en-US" sz="2000" dirty="0">
                <a:solidFill>
                  <a:srgbClr val="FF0000"/>
                </a:solidFill>
              </a:rPr>
            </a:br>
            <a:br>
              <a:rPr lang="en-US" sz="2000" dirty="0"/>
            </a:br>
            <a:r>
              <a:rPr lang="en-US" sz="2000" dirty="0">
                <a:solidFill>
                  <a:srgbClr val="FF0000"/>
                </a:solidFill>
              </a:rPr>
              <a:t>Font Style: Arial</a:t>
            </a:r>
            <a:br>
              <a:rPr lang="en-US" sz="2000" dirty="0">
                <a:solidFill>
                  <a:srgbClr val="FF0000"/>
                </a:solidFill>
              </a:rPr>
            </a:br>
            <a:r>
              <a:rPr lang="en-US" sz="2000" dirty="0">
                <a:solidFill>
                  <a:srgbClr val="FF0000"/>
                </a:solidFill>
              </a:rPr>
              <a:t>Font Size (Heading): 28</a:t>
            </a:r>
          </a:p>
          <a:p>
            <a:r>
              <a:rPr lang="en-US" sz="2000" dirty="0">
                <a:solidFill>
                  <a:srgbClr val="FF0000"/>
                </a:solidFill>
              </a:rPr>
              <a:t>Font Size (Content): 20</a:t>
            </a:r>
          </a:p>
        </p:txBody>
      </p:sp>
      <p:pic>
        <p:nvPicPr>
          <p:cNvPr id="6" name="Picture 5">
            <a:extLst>
              <a:ext uri="{FF2B5EF4-FFF2-40B4-BE49-F238E27FC236}">
                <a16:creationId xmlns:a16="http://schemas.microsoft.com/office/drawing/2014/main" id="{E5C70F07-A804-B639-5F72-9FBF0003A1A8}"/>
              </a:ext>
            </a:extLst>
          </p:cNvPr>
          <p:cNvPicPr>
            <a:picLocks noChangeAspect="1"/>
          </p:cNvPicPr>
          <p:nvPr/>
        </p:nvPicPr>
        <p:blipFill>
          <a:blip r:embed="rId3"/>
          <a:stretch>
            <a:fillRect/>
          </a:stretch>
        </p:blipFill>
        <p:spPr>
          <a:xfrm>
            <a:off x="3781812" y="3566160"/>
            <a:ext cx="1315127" cy="120128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078313"/>
          </a:xfrm>
          <a:prstGeom prst="rect">
            <a:avLst/>
          </a:prstGeom>
          <a:noFill/>
        </p:spPr>
        <p:txBody>
          <a:bodyPr wrap="square" rtlCol="0">
            <a:spAutoFit/>
          </a:bodyPr>
          <a:lstStyle/>
          <a:p>
            <a:endParaRPr lang="en-IN" sz="1800" b="1" dirty="0"/>
          </a:p>
          <a:p>
            <a:r>
              <a:rPr lang="en-IN" sz="1800" dirty="0"/>
              <a:t>Maintaining a balanced diet requires reliable nutritional information, personalized meal planning, and regular monitoring of food intake. However, individuals often face difficulties in understanding their nutritional needs and making appropriate dietary choices. To address these challenges, </a:t>
            </a:r>
            <a:r>
              <a:rPr lang="en-IN" sz="1800" b="1" dirty="0" err="1"/>
              <a:t>NutriAgent</a:t>
            </a:r>
            <a:r>
              <a:rPr lang="en-IN" sz="1800" b="1" dirty="0"/>
              <a:t> AI</a:t>
            </a:r>
            <a:r>
              <a:rPr lang="en-IN" sz="1800" dirty="0"/>
              <a:t> is developed as an IBM Granite-powered multi-agent system that integrates RAG-based nutrition information retrieval, personalized diet recommendations, preventive health guidance, and food intake tracking through an interactive dashboard.</a:t>
            </a:r>
          </a:p>
          <a:p>
            <a:endParaRPr lang="en-IN" sz="1800" dirty="0"/>
          </a:p>
          <a:p>
            <a:r>
              <a:rPr lang="en-IN" sz="1800" b="1" dirty="0"/>
              <a:t>Objectives :</a:t>
            </a:r>
          </a:p>
          <a:p>
            <a:endParaRPr lang="en-IN" sz="1800" b="1" dirty="0"/>
          </a:p>
          <a:p>
            <a:pPr marL="285750" lvl="0" indent="-285750">
              <a:buFont typeface="Arial" panose="020B0604020202020204" pitchFamily="34" charset="0"/>
              <a:buChar char="•"/>
            </a:pPr>
            <a:r>
              <a:rPr lang="en-IN" sz="1800" dirty="0"/>
              <a:t>To retrieve relevant nutritional information using RAG and a curated nutrition knowledge base.</a:t>
            </a:r>
          </a:p>
          <a:p>
            <a:pPr marL="285750" lvl="0" indent="-285750">
              <a:buFont typeface="Arial" panose="020B0604020202020204" pitchFamily="34" charset="0"/>
              <a:buChar char="•"/>
            </a:pPr>
            <a:r>
              <a:rPr lang="en-IN" sz="1800" dirty="0"/>
              <a:t>To generate personalized meal plans based on user preferences, health conditions, and dietary goals.</a:t>
            </a:r>
          </a:p>
          <a:p>
            <a:pPr marL="285750" lvl="0" indent="-285750">
              <a:buFont typeface="Arial" panose="020B0604020202020204" pitchFamily="34" charset="0"/>
              <a:buChar char="•"/>
            </a:pPr>
            <a:r>
              <a:rPr lang="en-IN" sz="1800" dirty="0"/>
              <a:t>To provide preventive dietary guidance for selected health conditions.</a:t>
            </a:r>
          </a:p>
          <a:p>
            <a:pPr marL="285750" lvl="0" indent="-285750">
              <a:buFont typeface="Arial" panose="020B0604020202020204" pitchFamily="34" charset="0"/>
              <a:buChar char="•"/>
            </a:pPr>
            <a:r>
              <a:rPr lang="en-IN" sz="1800" dirty="0"/>
              <a:t>To track food intake and provide nutritional feedback through specialized AI agents.</a:t>
            </a:r>
          </a:p>
          <a:p>
            <a:pPr marL="285750" lvl="0" indent="-285750">
              <a:buFont typeface="Arial" panose="020B0604020202020204" pitchFamily="34" charset="0"/>
              <a:buChar char="•"/>
            </a:pPr>
            <a:r>
              <a:rPr lang="en-IN" sz="1800" dirty="0"/>
              <a:t>To visualize daily and weekly nutritional intake and progress through an interactive dashboard.</a:t>
            </a:r>
          </a:p>
          <a:p>
            <a:pPr marL="285750" lvl="0" indent="-285750">
              <a:buFont typeface="Arial" panose="020B0604020202020204" pitchFamily="34" charset="0"/>
              <a:buChar char="•"/>
            </a:pPr>
            <a:r>
              <a:rPr lang="en-IN" sz="1800" dirty="0"/>
              <a:t>To integrate IBM Granite, </a:t>
            </a:r>
            <a:r>
              <a:rPr lang="en-IN" sz="1800" dirty="0" err="1"/>
              <a:t>ChromaDB</a:t>
            </a:r>
            <a:r>
              <a:rPr lang="en-IN" sz="1800" dirty="0"/>
              <a:t>, and Flask to deliver an intelligent nutrition assistance system.</a:t>
            </a:r>
            <a:endParaRPr lang="en-US" sz="1800" dirty="0"/>
          </a:p>
          <a:p>
            <a:endParaRPr lang="en-IN" sz="1800"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078313"/>
          </a:xfrm>
          <a:prstGeom prst="rect">
            <a:avLst/>
          </a:prstGeom>
          <a:noFill/>
        </p:spPr>
        <p:txBody>
          <a:bodyPr wrap="square" rtlCol="0">
            <a:spAutoFit/>
          </a:bodyPr>
          <a:lstStyle/>
          <a:p>
            <a:r>
              <a:rPr lang="en-IN" sz="1800" b="1" dirty="0"/>
              <a:t>Proposed Solution</a:t>
            </a:r>
          </a:p>
          <a:p>
            <a:r>
              <a:rPr lang="en-IN" sz="1800" dirty="0" err="1"/>
              <a:t>NutriAgent</a:t>
            </a:r>
            <a:r>
              <a:rPr lang="en-IN" sz="1800" dirty="0"/>
              <a:t> AI is an IBM Granite-powered multi-agent nutrition assistance system designed to provide personalized dietary guidance through an integrated application. The system consists of four specialized agents:</a:t>
            </a:r>
          </a:p>
          <a:p>
            <a:pPr lvl="0"/>
            <a:r>
              <a:rPr lang="en-IN" sz="1800" b="1" dirty="0"/>
              <a:t>Nutrition Knowledge Agent:</a:t>
            </a:r>
            <a:r>
              <a:rPr lang="en-IN" sz="1800" dirty="0"/>
              <a:t> Retrieves relevant nutritional information, including calories, proteins, carbohydrates, fats, vitamins, and minerals, using Retrieval-Augmented Generation (RAG), </a:t>
            </a:r>
            <a:r>
              <a:rPr lang="en-IN" sz="1800" dirty="0" err="1"/>
              <a:t>ChromaDB</a:t>
            </a:r>
            <a:r>
              <a:rPr lang="en-IN" sz="1800" dirty="0"/>
              <a:t>, and a curated nutrition knowledge base.</a:t>
            </a:r>
          </a:p>
          <a:p>
            <a:pPr lvl="0"/>
            <a:r>
              <a:rPr lang="en-IN" sz="1800" b="1" dirty="0"/>
              <a:t>Diet Recommendation Agent:</a:t>
            </a:r>
            <a:r>
              <a:rPr lang="en-IN" sz="1800" dirty="0"/>
              <a:t> Generates personalized meal plans and portion suggestions based on user preferences, dietary goals, nutritional requirements, and available information about health conditions and allergies.</a:t>
            </a:r>
          </a:p>
          <a:p>
            <a:pPr lvl="0"/>
            <a:r>
              <a:rPr lang="en-IN" sz="1800" b="1" dirty="0"/>
              <a:t>Health Advisory Agent:</a:t>
            </a:r>
            <a:r>
              <a:rPr lang="en-IN" sz="1800" dirty="0"/>
              <a:t> Provides general preventive nutrition guidance and dietary suggestions for selected health conditions, such as diabetes and hypertension, to support healthier food choices.</a:t>
            </a:r>
          </a:p>
          <a:p>
            <a:pPr lvl="0"/>
            <a:r>
              <a:rPr lang="en-IN" sz="1800" b="1" dirty="0"/>
              <a:t>Food Log &amp; Feedback Agent:</a:t>
            </a:r>
            <a:r>
              <a:rPr lang="en-IN" sz="1800" dirty="0"/>
              <a:t> Records user-entered meals, </a:t>
            </a:r>
            <a:r>
              <a:rPr lang="en-IN" sz="1800" dirty="0" err="1"/>
              <a:t>analyzes</a:t>
            </a:r>
            <a:r>
              <a:rPr lang="en-IN" sz="1800" dirty="0"/>
              <a:t> nutritional intake, tracks food and water consumption where supported, and provides feedback on daily dietary progress.</a:t>
            </a:r>
          </a:p>
          <a:p>
            <a:r>
              <a:rPr lang="en-IN" sz="1800" dirty="0"/>
              <a:t>The system uses IBM Granite through IBM watsonx.ai to generate contextual responses, while a Flask-based backend integrates the agents and supports an interactive dashboard for visualizing nutritional intake and progress. Overall, </a:t>
            </a:r>
            <a:r>
              <a:rPr lang="en-IN" sz="1800" dirty="0" err="1"/>
              <a:t>NutriAgent</a:t>
            </a:r>
            <a:r>
              <a:rPr lang="en-IN" sz="1800" dirty="0"/>
              <a:t> AI aims to simplify nutrition management, improve access to relevant dietary information, and support informed, healthier eating habits.</a:t>
            </a:r>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113644"/>
          </a:xfrm>
          <a:prstGeom prst="rect">
            <a:avLst/>
          </a:prstGeom>
          <a:noFill/>
        </p:spPr>
        <p:txBody>
          <a:bodyPr wrap="square" rtlCol="0">
            <a:spAutoFit/>
          </a:bodyPr>
          <a:lstStyle/>
          <a:p>
            <a:pPr lvl="0">
              <a:lnSpc>
                <a:spcPct val="150000"/>
              </a:lnSpc>
            </a:pPr>
            <a:r>
              <a:rPr lang="en-IN" sz="2000" b="1" dirty="0"/>
              <a:t>Programming Language:</a:t>
            </a:r>
            <a:r>
              <a:rPr lang="en-IN" sz="2000" dirty="0"/>
              <a:t> Python</a:t>
            </a:r>
          </a:p>
          <a:p>
            <a:pPr lvl="0">
              <a:lnSpc>
                <a:spcPct val="150000"/>
              </a:lnSpc>
            </a:pPr>
            <a:r>
              <a:rPr lang="en-IN" sz="2000" b="1" dirty="0"/>
              <a:t>Large Language Model (LLM):</a:t>
            </a:r>
            <a:r>
              <a:rPr lang="en-IN" sz="2000" dirty="0"/>
              <a:t> IBM Granite</a:t>
            </a:r>
          </a:p>
          <a:p>
            <a:pPr lvl="0">
              <a:lnSpc>
                <a:spcPct val="150000"/>
              </a:lnSpc>
            </a:pPr>
            <a:r>
              <a:rPr lang="en-IN" sz="2000" b="1" dirty="0"/>
              <a:t>LLM Platform:</a:t>
            </a:r>
            <a:r>
              <a:rPr lang="en-IN" sz="2000" dirty="0"/>
              <a:t> IBM watsonx.ai</a:t>
            </a:r>
          </a:p>
          <a:p>
            <a:pPr lvl="0">
              <a:lnSpc>
                <a:spcPct val="150000"/>
              </a:lnSpc>
            </a:pPr>
            <a:r>
              <a:rPr lang="en-IN" sz="2000" b="1" dirty="0"/>
              <a:t>AI Architecture:</a:t>
            </a:r>
            <a:r>
              <a:rPr lang="en-IN" sz="2000" dirty="0"/>
              <a:t> Multi-Agent System</a:t>
            </a:r>
          </a:p>
          <a:p>
            <a:pPr lvl="0">
              <a:lnSpc>
                <a:spcPct val="150000"/>
              </a:lnSpc>
            </a:pPr>
            <a:r>
              <a:rPr lang="en-IN" sz="2000" b="1" dirty="0"/>
              <a:t>Retrieval Technique:</a:t>
            </a:r>
            <a:r>
              <a:rPr lang="en-IN" sz="2000" dirty="0"/>
              <a:t> Retrieval-Augmented Generation (RAG)</a:t>
            </a:r>
          </a:p>
          <a:p>
            <a:pPr lvl="0">
              <a:lnSpc>
                <a:spcPct val="150000"/>
              </a:lnSpc>
            </a:pPr>
            <a:r>
              <a:rPr lang="en-IN" sz="2000" b="1" dirty="0"/>
              <a:t>Vector Database:</a:t>
            </a:r>
            <a:r>
              <a:rPr lang="en-IN" sz="2000" dirty="0"/>
              <a:t> </a:t>
            </a:r>
            <a:r>
              <a:rPr lang="en-IN" sz="2000" dirty="0" err="1"/>
              <a:t>ChromaDB</a:t>
            </a:r>
            <a:endParaRPr lang="en-IN" sz="2000" dirty="0"/>
          </a:p>
          <a:p>
            <a:pPr lvl="0">
              <a:lnSpc>
                <a:spcPct val="150000"/>
              </a:lnSpc>
            </a:pPr>
            <a:r>
              <a:rPr lang="en-IN" sz="2000" b="1" dirty="0"/>
              <a:t>Backend Framework:</a:t>
            </a:r>
            <a:r>
              <a:rPr lang="en-IN" sz="2000" dirty="0"/>
              <a:t> Flask</a:t>
            </a:r>
          </a:p>
          <a:p>
            <a:pPr lvl="0">
              <a:lnSpc>
                <a:spcPct val="150000"/>
              </a:lnSpc>
            </a:pPr>
            <a:r>
              <a:rPr lang="en-IN" sz="2000" b="1" dirty="0"/>
              <a:t>Embeddings:</a:t>
            </a:r>
            <a:r>
              <a:rPr lang="en-IN" sz="2000" dirty="0"/>
              <a:t> Text embedding models for semantic search</a:t>
            </a:r>
          </a:p>
          <a:p>
            <a:pPr lvl="0">
              <a:lnSpc>
                <a:spcPct val="150000"/>
              </a:lnSpc>
            </a:pPr>
            <a:r>
              <a:rPr lang="en-IN" sz="2000" b="1" dirty="0"/>
              <a:t>Frontend:</a:t>
            </a:r>
            <a:r>
              <a:rPr lang="en-IN" sz="2000" dirty="0"/>
              <a:t> HTML, CSS, and JavaScript (if used in the current interface)</a:t>
            </a:r>
          </a:p>
          <a:p>
            <a:pPr lvl="0">
              <a:lnSpc>
                <a:spcPct val="150000"/>
              </a:lnSpc>
            </a:pPr>
            <a:r>
              <a:rPr lang="en-IN" sz="2000" b="1" dirty="0"/>
              <a:t>Data Visualization:</a:t>
            </a:r>
            <a:r>
              <a:rPr lang="en-IN" sz="2000" dirty="0"/>
              <a:t> Dashboard charts and graphical representations</a:t>
            </a:r>
          </a:p>
          <a:p>
            <a:pPr lvl="0">
              <a:lnSpc>
                <a:spcPct val="150000"/>
              </a:lnSpc>
            </a:pPr>
            <a:r>
              <a:rPr lang="en-IN" sz="2000" b="1" dirty="0"/>
              <a:t>Development Tools:</a:t>
            </a:r>
            <a:r>
              <a:rPr lang="en-IN" sz="2000" dirty="0"/>
              <a:t> Git and GitHub</a:t>
            </a:r>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Required Files created using IBM bob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1384995"/>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r>
              <a:rPr lang="en-US" dirty="0"/>
              <a:t> </a:t>
            </a:r>
            <a:endParaRPr lang="en-IN" dirty="0"/>
          </a:p>
        </p:txBody>
      </p:sp>
      <p:pic>
        <p:nvPicPr>
          <p:cNvPr id="4" name="Picture 3">
            <a:extLst>
              <a:ext uri="{FF2B5EF4-FFF2-40B4-BE49-F238E27FC236}">
                <a16:creationId xmlns:a16="http://schemas.microsoft.com/office/drawing/2014/main" id="{F363C98B-BC75-FB07-4B1E-5A89D8701823}"/>
              </a:ext>
            </a:extLst>
          </p:cNvPr>
          <p:cNvPicPr>
            <a:picLocks noChangeAspect="1"/>
          </p:cNvPicPr>
          <p:nvPr/>
        </p:nvPicPr>
        <p:blipFill>
          <a:blip r:embed="rId3"/>
          <a:stretch>
            <a:fillRect/>
          </a:stretch>
        </p:blipFill>
        <p:spPr>
          <a:xfrm>
            <a:off x="965200" y="1005840"/>
            <a:ext cx="9763760" cy="4673600"/>
          </a:xfrm>
          <a:prstGeom prst="rect">
            <a:avLst/>
          </a:prstGeom>
        </p:spPr>
      </p:pic>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 </a:t>
            </a:r>
            <a:r>
              <a:rPr lang="en-US" sz="2400" b="1" i="0" u="none" strike="noStrike" cap="none" dirty="0">
                <a:solidFill>
                  <a:srgbClr val="051D3A"/>
                </a:solidFill>
                <a:latin typeface="Times New Roman"/>
                <a:ea typeface="Times New Roman"/>
                <a:cs typeface="Times New Roman"/>
                <a:sym typeface="Times New Roman"/>
              </a:rPr>
              <a:t>IBM Bob Screenshots:</a:t>
            </a:r>
            <a:endParaRPr sz="2400" b="1" dirty="0">
              <a:sym typeface="Times New Roman"/>
            </a:endParaRPr>
          </a:p>
        </p:txBody>
      </p:sp>
      <p:pic>
        <p:nvPicPr>
          <p:cNvPr id="4" name="Picture 3">
            <a:extLst>
              <a:ext uri="{FF2B5EF4-FFF2-40B4-BE49-F238E27FC236}">
                <a16:creationId xmlns:a16="http://schemas.microsoft.com/office/drawing/2014/main" id="{1540609F-BE63-D7A4-9289-43C8542CFF4F}"/>
              </a:ext>
            </a:extLst>
          </p:cNvPr>
          <p:cNvPicPr>
            <a:picLocks noChangeAspect="1"/>
          </p:cNvPicPr>
          <p:nvPr/>
        </p:nvPicPr>
        <p:blipFill>
          <a:blip r:embed="rId3"/>
          <a:stretch>
            <a:fillRect/>
          </a:stretch>
        </p:blipFill>
        <p:spPr>
          <a:xfrm>
            <a:off x="853440" y="995679"/>
            <a:ext cx="10353040" cy="5445761"/>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2525D29-4B6E-6A36-36DF-E8EDABA3AB4B}"/>
              </a:ext>
            </a:extLst>
          </p:cNvPr>
          <p:cNvPicPr>
            <a:picLocks noChangeAspect="1"/>
          </p:cNvPicPr>
          <p:nvPr/>
        </p:nvPicPr>
        <p:blipFill>
          <a:blip r:embed="rId2"/>
          <a:stretch>
            <a:fillRect/>
          </a:stretch>
        </p:blipFill>
        <p:spPr>
          <a:xfrm>
            <a:off x="213360" y="189703"/>
            <a:ext cx="11866880" cy="6478594"/>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5" name="Picture 4">
            <a:extLst>
              <a:ext uri="{FF2B5EF4-FFF2-40B4-BE49-F238E27FC236}">
                <a16:creationId xmlns:a16="http://schemas.microsoft.com/office/drawing/2014/main" id="{EF27EA59-70B9-871A-1A6E-63DC5184E60D}"/>
              </a:ext>
            </a:extLst>
          </p:cNvPr>
          <p:cNvPicPr>
            <a:picLocks noChangeAspect="1"/>
          </p:cNvPicPr>
          <p:nvPr/>
        </p:nvPicPr>
        <p:blipFill>
          <a:blip r:embed="rId3"/>
          <a:stretch>
            <a:fillRect/>
          </a:stretch>
        </p:blipFill>
        <p:spPr>
          <a:xfrm>
            <a:off x="995680" y="1"/>
            <a:ext cx="99568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5" name="TextBox 4">
            <a:extLst>
              <a:ext uri="{FF2B5EF4-FFF2-40B4-BE49-F238E27FC236}">
                <a16:creationId xmlns:a16="http://schemas.microsoft.com/office/drawing/2014/main" id="{B39B1A9E-B743-9012-9EA3-5B7C26953896}"/>
              </a:ext>
            </a:extLst>
          </p:cNvPr>
          <p:cNvSpPr txBox="1"/>
          <p:nvPr/>
        </p:nvSpPr>
        <p:spPr>
          <a:xfrm>
            <a:off x="81280" y="1168399"/>
            <a:ext cx="6634480" cy="3139321"/>
          </a:xfrm>
          <a:prstGeom prst="rect">
            <a:avLst/>
          </a:prstGeom>
          <a:noFill/>
        </p:spPr>
        <p:txBody>
          <a:bodyPr wrap="square">
            <a:spAutoFit/>
          </a:bodyPr>
          <a:lstStyle/>
          <a:p>
            <a:r>
              <a:rPr lang="en-IN" sz="1800" dirty="0" err="1"/>
              <a:t>NutriAgent</a:t>
            </a:r>
            <a:r>
              <a:rPr lang="en-IN" sz="1800" dirty="0"/>
              <a:t> AI is a multi-agent nutrition system that uses Agentic AI to provide personalized nutrition recommendations. The system consists of four specialized agents: Nutrition Knowledge, Diet Recommendation, Health Advisory, and Food Log &amp; Feedback. The Nutrition Knowledge Agent provides nutritional facts and food information. The Diet Recommendation Agent suggests personalized meal plans based on user preferences and available information. The Health Advisory Agent provides general wellness guidance and dietary safety precautions.</a:t>
            </a:r>
          </a:p>
          <a:p>
            <a:endParaRPr lang="en-IN" sz="1800" dirty="0"/>
          </a:p>
        </p:txBody>
      </p:sp>
      <p:pic>
        <p:nvPicPr>
          <p:cNvPr id="7" name="Picture 6">
            <a:extLst>
              <a:ext uri="{FF2B5EF4-FFF2-40B4-BE49-F238E27FC236}">
                <a16:creationId xmlns:a16="http://schemas.microsoft.com/office/drawing/2014/main" id="{16B491F7-7E93-4F16-E668-6882B8841BE0}"/>
              </a:ext>
            </a:extLst>
          </p:cNvPr>
          <p:cNvPicPr>
            <a:picLocks noChangeAspect="1"/>
          </p:cNvPicPr>
          <p:nvPr/>
        </p:nvPicPr>
        <p:blipFill>
          <a:blip r:embed="rId3"/>
          <a:stretch>
            <a:fillRect/>
          </a:stretch>
        </p:blipFill>
        <p:spPr>
          <a:xfrm>
            <a:off x="6538960" y="996738"/>
            <a:ext cx="5295392" cy="3482642"/>
          </a:xfrm>
          <a:prstGeom prst="rect">
            <a:avLst/>
          </a:prstGeom>
        </p:spPr>
      </p:pic>
      <p:sp>
        <p:nvSpPr>
          <p:cNvPr id="9" name="TextBox 8">
            <a:extLst>
              <a:ext uri="{FF2B5EF4-FFF2-40B4-BE49-F238E27FC236}">
                <a16:creationId xmlns:a16="http://schemas.microsoft.com/office/drawing/2014/main" id="{4F7505BA-755B-576F-A6DF-BD6501A4A08A}"/>
              </a:ext>
            </a:extLst>
          </p:cNvPr>
          <p:cNvSpPr txBox="1"/>
          <p:nvPr/>
        </p:nvSpPr>
        <p:spPr>
          <a:xfrm>
            <a:off x="81280" y="4479380"/>
            <a:ext cx="11753072" cy="1754326"/>
          </a:xfrm>
          <a:prstGeom prst="rect">
            <a:avLst/>
          </a:prstGeom>
          <a:noFill/>
        </p:spPr>
        <p:txBody>
          <a:bodyPr wrap="square">
            <a:spAutoFit/>
          </a:bodyPr>
          <a:lstStyle/>
          <a:p>
            <a:r>
              <a:rPr lang="en-IN" sz="1800" dirty="0"/>
              <a:t> The Food Log &amp; Feedback Agent records food intake and uses feedback to improve future recommendations. IBM watsonx.ai provides the large language model (LLM) capabilities for understanding user queries and generating natural-language responses. Flask serves as the backend web framework, while API routes connect the frontend with backend functionalities. An agent coordinator can route user requests to the appropriate agents and combine their outputs. By integrating these components, </a:t>
            </a:r>
            <a:r>
              <a:rPr lang="en-IN" sz="1800" dirty="0" err="1"/>
              <a:t>NutriAgent</a:t>
            </a:r>
            <a:r>
              <a:rPr lang="en-IN" sz="1800" dirty="0"/>
              <a:t> AI aims to deliver intelligent, personalized, and user-friendly nutrition support.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Token Usage </a:t>
            </a:r>
          </a:p>
          <a:p>
            <a:pPr>
              <a:lnSpc>
                <a:spcPct val="157142"/>
              </a:lnSpc>
              <a:buClr>
                <a:srgbClr val="051D3A"/>
              </a:buClr>
              <a:buSzPts val="3500"/>
            </a:pPr>
            <a:r>
              <a:rPr lang="en-US" sz="2000" dirty="0">
                <a:sym typeface="Times New Roman"/>
              </a:rPr>
              <a:t>	12769 tokens used</a:t>
            </a:r>
            <a:endParaRPr sz="2000" dirty="0">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93C2A48B-64DB-49ED-B49D-1D5CF6898171}"/>
              </a:ext>
            </a:extLst>
          </p:cNvPr>
          <p:cNvPicPr>
            <a:picLocks noChangeAspect="1"/>
          </p:cNvPicPr>
          <p:nvPr/>
        </p:nvPicPr>
        <p:blipFill>
          <a:blip r:embed="rId3"/>
          <a:stretch>
            <a:fillRect/>
          </a:stretch>
        </p:blipFill>
        <p:spPr>
          <a:xfrm>
            <a:off x="1218724" y="1696488"/>
            <a:ext cx="9865836" cy="4714472"/>
          </a:xfrm>
          <a:prstGeom prst="rect">
            <a:avLst/>
          </a:prstGeom>
        </p:spPr>
      </p:pic>
    </p:spTree>
    <p:extLst>
      <p:ext uri="{BB962C8B-B14F-4D97-AF65-F5344CB8AC3E}">
        <p14:creationId xmlns:p14="http://schemas.microsoft.com/office/powerpoint/2010/main" val="21154848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dirty="0">
                <a:solidFill>
                  <a:srgbClr val="FF0000"/>
                </a:solidFill>
              </a:rPr>
              <a:t>Please put IBM Bob output screenshots with 2-3 prompts. </a:t>
            </a:r>
          </a:p>
          <a:p>
            <a:r>
              <a:rPr lang="en-US" sz="2000" dirty="0">
                <a:solidFill>
                  <a:srgbClr val="FF0000"/>
                </a:solidFill>
              </a:rPr>
              <a:t>You can take 2-3 more slides for each screenshot</a:t>
            </a:r>
            <a:endParaRPr lang="en-IN" sz="2000" dirty="0">
              <a:solidFill>
                <a:srgbClr val="FF0000"/>
              </a:solidFill>
            </a:endParaRPr>
          </a:p>
        </p:txBody>
      </p:sp>
      <p:pic>
        <p:nvPicPr>
          <p:cNvPr id="5" name="Picture 4">
            <a:extLst>
              <a:ext uri="{FF2B5EF4-FFF2-40B4-BE49-F238E27FC236}">
                <a16:creationId xmlns:a16="http://schemas.microsoft.com/office/drawing/2014/main" id="{C83960F9-EDD6-814E-E58C-EE2AAE630773}"/>
              </a:ext>
            </a:extLst>
          </p:cNvPr>
          <p:cNvPicPr>
            <a:picLocks noChangeAspect="1"/>
          </p:cNvPicPr>
          <p:nvPr/>
        </p:nvPicPr>
        <p:blipFill>
          <a:blip r:embed="rId3"/>
          <a:stretch>
            <a:fillRect/>
          </a:stretch>
        </p:blipFill>
        <p:spPr>
          <a:xfrm>
            <a:off x="115975" y="680720"/>
            <a:ext cx="11960050" cy="6177280"/>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dirty="0">
                <a:solidFill>
                  <a:srgbClr val="FF0000"/>
                </a:solidFill>
              </a:rPr>
              <a:t>Please put IBM Bob output screenshots with 2-3 prompts. </a:t>
            </a:r>
          </a:p>
          <a:p>
            <a:r>
              <a:rPr lang="en-US" sz="2000" dirty="0">
                <a:solidFill>
                  <a:srgbClr val="FF0000"/>
                </a:solidFill>
              </a:rPr>
              <a:t>You can take 2-3 more slides for each screenshot</a:t>
            </a:r>
            <a:endParaRPr lang="en-IN" sz="2000" dirty="0">
              <a:solidFill>
                <a:srgbClr val="FF0000"/>
              </a:solidFill>
            </a:endParaRPr>
          </a:p>
        </p:txBody>
      </p:sp>
      <p:pic>
        <p:nvPicPr>
          <p:cNvPr id="4" name="Picture 3">
            <a:extLst>
              <a:ext uri="{FF2B5EF4-FFF2-40B4-BE49-F238E27FC236}">
                <a16:creationId xmlns:a16="http://schemas.microsoft.com/office/drawing/2014/main" id="{D10059B8-99DF-1E14-6193-7543634EFFFC}"/>
              </a:ext>
            </a:extLst>
          </p:cNvPr>
          <p:cNvPicPr>
            <a:picLocks noChangeAspect="1"/>
          </p:cNvPicPr>
          <p:nvPr/>
        </p:nvPicPr>
        <p:blipFill>
          <a:blip r:embed="rId3"/>
          <a:stretch>
            <a:fillRect/>
          </a:stretch>
        </p:blipFill>
        <p:spPr>
          <a:xfrm>
            <a:off x="108496" y="690880"/>
            <a:ext cx="11975007" cy="6167120"/>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dirty="0">
                <a:solidFill>
                  <a:srgbClr val="FF0000"/>
                </a:solidFill>
              </a:rPr>
              <a:t>Please put IBM Bob output screenshots with 2-3 prompts. </a:t>
            </a:r>
          </a:p>
          <a:p>
            <a:r>
              <a:rPr lang="en-US" sz="2000" dirty="0">
                <a:solidFill>
                  <a:srgbClr val="FF0000"/>
                </a:solidFill>
              </a:rPr>
              <a:t>You can take 2-3 more slides for each screenshot</a:t>
            </a:r>
            <a:endParaRPr lang="en-IN" sz="2000" dirty="0">
              <a:solidFill>
                <a:srgbClr val="FF0000"/>
              </a:solidFill>
            </a:endParaRPr>
          </a:p>
        </p:txBody>
      </p:sp>
      <p:pic>
        <p:nvPicPr>
          <p:cNvPr id="5" name="Picture 4">
            <a:extLst>
              <a:ext uri="{FF2B5EF4-FFF2-40B4-BE49-F238E27FC236}">
                <a16:creationId xmlns:a16="http://schemas.microsoft.com/office/drawing/2014/main" id="{A095D00C-5956-02AE-F617-D640426D8887}"/>
              </a:ext>
            </a:extLst>
          </p:cNvPr>
          <p:cNvPicPr>
            <a:picLocks noChangeAspect="1"/>
          </p:cNvPicPr>
          <p:nvPr/>
        </p:nvPicPr>
        <p:blipFill>
          <a:blip r:embed="rId3"/>
          <a:stretch>
            <a:fillRect/>
          </a:stretch>
        </p:blipFill>
        <p:spPr>
          <a:xfrm>
            <a:off x="409143" y="711200"/>
            <a:ext cx="11373713" cy="6146800"/>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2523768"/>
          </a:xfrm>
          <a:prstGeom prst="rect">
            <a:avLst/>
          </a:prstGeom>
          <a:noFill/>
        </p:spPr>
        <p:txBody>
          <a:bodyPr wrap="square" rtlCol="0">
            <a:spAutoFit/>
          </a:bodyPr>
          <a:lstStyle/>
          <a:p>
            <a:pPr lvl="0"/>
            <a:r>
              <a:rPr lang="en-IN" sz="1800" b="1" dirty="0"/>
              <a:t>Nutrition Knowledge Agent:</a:t>
            </a:r>
            <a:r>
              <a:rPr lang="en-IN" sz="1800" dirty="0"/>
              <a:t> Provides information about food nutrients, calories, proteins, carbohydrates, vitamins, and minerals using IBM Granite.</a:t>
            </a:r>
          </a:p>
          <a:p>
            <a:pPr lvl="0"/>
            <a:r>
              <a:rPr lang="en-IN" sz="1800" b="1" dirty="0"/>
              <a:t>Diet Recommendation Agent:</a:t>
            </a:r>
            <a:r>
              <a:rPr lang="en-IN" sz="1800" dirty="0"/>
              <a:t> Generates personalized meal plans based on user preferences, dietary goals, and nutritional requirements.</a:t>
            </a:r>
          </a:p>
          <a:p>
            <a:pPr lvl="0"/>
            <a:r>
              <a:rPr lang="en-IN" sz="1800" b="1" dirty="0"/>
              <a:t>Health Advisory Agent:</a:t>
            </a:r>
            <a:r>
              <a:rPr lang="en-IN" sz="1800" dirty="0"/>
              <a:t> Offers general dietary guidance and preventive nutrition suggestions for selected health conditions, such as diabetes and hypertension.</a:t>
            </a:r>
          </a:p>
          <a:p>
            <a:pPr lvl="0"/>
            <a:r>
              <a:rPr lang="en-IN" sz="1800" b="1" dirty="0"/>
              <a:t>Food Log &amp; Feedback Agent:</a:t>
            </a:r>
            <a:r>
              <a:rPr lang="en-IN" sz="1800" dirty="0"/>
              <a:t> Records user-reported food intake, </a:t>
            </a:r>
            <a:r>
              <a:rPr lang="en-IN" sz="1800" dirty="0" err="1"/>
              <a:t>analyzes</a:t>
            </a:r>
            <a:r>
              <a:rPr lang="en-IN" sz="1800" dirty="0"/>
              <a:t> nutritional consumption, and provides feedback to help users monitor their eating habits.</a:t>
            </a:r>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https://github.com/sravantireddy/NUTRIAGENT-AI</a:t>
            </a:r>
          </a:p>
          <a:p>
            <a:pPr lvl="0">
              <a:lnSpc>
                <a:spcPct val="162162"/>
              </a:lnSpc>
              <a:buClr>
                <a:srgbClr val="2B3541"/>
              </a:buClr>
              <a:buSzPts val="1850"/>
            </a:pPr>
            <a:endParaRPr lang="en-US" sz="1850" b="1"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endParaRPr lang="en-US" sz="1850" b="1"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a:solidFill>
                  <a:srgbClr val="2B3541"/>
                </a:solidFill>
                <a:latin typeface="Times New Roman"/>
                <a:ea typeface="Times New Roman"/>
                <a:cs typeface="Times New Roman"/>
                <a:sym typeface="Times New Roman"/>
              </a:rPr>
              <a:t>1.Integration with Wearables &amp; Health Devices –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p>
          <a:p>
            <a:pPr marL="0" marR="0" lvl="0" indent="0" algn="l" rtl="0">
              <a:lnSpc>
                <a:spcPct val="162162"/>
              </a:lnSpc>
              <a:spcBef>
                <a:spcPts val="0"/>
              </a:spcBef>
              <a:spcAft>
                <a:spcPts val="0"/>
              </a:spcAft>
              <a:buClr>
                <a:srgbClr val="2B3541"/>
              </a:buClr>
              <a:buSzPts val="1850"/>
              <a:buFont typeface="Times New Roman"/>
              <a:buNone/>
            </a:pPr>
            <a:r>
              <a:rPr lang="en-US" sz="1850" b="1">
                <a:solidFill>
                  <a:srgbClr val="2B3541"/>
                </a:solidFill>
                <a:latin typeface="Times New Roman"/>
                <a:ea typeface="Times New Roman"/>
                <a:cs typeface="Times New Roman"/>
                <a:sym typeface="Times New Roman"/>
              </a:rPr>
              <a:t>2.</a:t>
            </a:r>
            <a:r>
              <a:rPr lang="en-US" sz="1850" b="1" i="0" u="none" strike="noStrike" cap="none">
                <a:solidFill>
                  <a:srgbClr val="2B3541"/>
                </a:solidFill>
                <a:latin typeface="Times New Roman"/>
                <a:ea typeface="Times New Roman"/>
                <a:cs typeface="Times New Roman"/>
                <a:sym typeface="Times New Roman"/>
              </a:rPr>
              <a:t>AI-Powered Voice Assistant &amp; Multilingual Support </a:t>
            </a:r>
            <a:r>
              <a:rPr lang="en-US" sz="1850" b="0" i="0" u="none" strike="noStrike" cap="none">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pic>
        <p:nvPicPr>
          <p:cNvPr id="5" name="Picture 4">
            <a:extLst>
              <a:ext uri="{FF2B5EF4-FFF2-40B4-BE49-F238E27FC236}">
                <a16:creationId xmlns:a16="http://schemas.microsoft.com/office/drawing/2014/main" id="{C7829750-B98C-F77B-CE74-A7639F093995}"/>
              </a:ext>
            </a:extLst>
          </p:cNvPr>
          <p:cNvPicPr>
            <a:picLocks noChangeAspect="1"/>
          </p:cNvPicPr>
          <p:nvPr/>
        </p:nvPicPr>
        <p:blipFill>
          <a:blip r:embed="rId2"/>
          <a:stretch>
            <a:fillRect/>
          </a:stretch>
        </p:blipFill>
        <p:spPr>
          <a:xfrm>
            <a:off x="1877964" y="1213281"/>
            <a:ext cx="8436071" cy="5382103"/>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3" name="Picture 2">
            <a:extLst>
              <a:ext uri="{FF2B5EF4-FFF2-40B4-BE49-F238E27FC236}">
                <a16:creationId xmlns:a16="http://schemas.microsoft.com/office/drawing/2014/main" id="{361FAA1E-6E65-8213-750B-BD28F5703D28}"/>
              </a:ext>
            </a:extLst>
          </p:cNvPr>
          <p:cNvPicPr>
            <a:picLocks noChangeAspect="1"/>
          </p:cNvPicPr>
          <p:nvPr/>
        </p:nvPicPr>
        <p:blipFill>
          <a:blip r:embed="rId2"/>
          <a:stretch>
            <a:fillRect/>
          </a:stretch>
        </p:blipFill>
        <p:spPr>
          <a:xfrm>
            <a:off x="1408052" y="1200580"/>
            <a:ext cx="8725656" cy="5380186"/>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839</TotalTime>
  <Words>1078</Words>
  <Application>Microsoft Office PowerPoint</Application>
  <PresentationFormat>Widescreen</PresentationFormat>
  <Paragraphs>103</Paragraphs>
  <Slides>20</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Times New Roman</vt:lpstr>
      <vt:lpstr>Wingdings</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Sravanti Manda</cp:lastModifiedBy>
  <cp:revision>20</cp:revision>
  <dcterms:created xsi:type="dcterms:W3CDTF">2025-07-08T05:06:56Z</dcterms:created>
  <dcterms:modified xsi:type="dcterms:W3CDTF">2026-10-17T17:31:07Z</dcterms:modified>
</cp:coreProperties>
</file>